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notesMaster" Target="notesMasters/notesMaster1.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안녕하세요, 여러분. 오늘은 Palmer Penguins 데이터셋을 분석한 결과를 프레젠테이션하겠습니다. 이 데이터셋은 남극 펭귄 세 종에 대한 측정 데이터를 포함하며, 데이터 로드부터 시각화와 인사이트 도출까지 전체 과정을 다루었습니다. 총 344개의 샘플로 구성되어 있어 생물 다양성과 생태적 패턴을 이해하는 데 유용합니다. 이 분석은 기계 학습 모델링에도 적용될 수 있습니다.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Palmer Penguins 데이터셋은 남극 연구에서 널리 사용되는 공개 데이터셋입니다. 세 종의 펭귄에 대해 신체 측정치와 서식지를 기록하고 있어, 생물학적 다양성을 탐구하기에 적합합니다. 우리의 분석 목표는 종별 차이를 시각화하고, 생태적 의미를 해석하는 것입니다. 이 데이터는 기후 변화가 펭귄 개체군에 미치는 영향을 연구하는 데도 활용됩니다. (약 190자)</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데이터셋은 344개의 펭귄 샘플로 구성되어 있으며, 7개의 변수가 있습니다. 수치형 변수 4개와 범주형 변수 3개로, 메모리 사용량은 약 19KB입니다. 이 구조는 데이터 분석에 효율적이며, 결측치가 일부 존재해 전처리가 필요했습니다. 종, 섬, 성별 등의 범주형 데이터가 생태적 패턴 분석에 핵심적입니다.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수치형 변수의 통계 요약을 표로 정리했습니다. 부리 길이 평균 44mm, 체중 평균 4202g 등입니다. 결측치는 성별에 11개로 가장 많아, 분석 시 주의해야 합니다. 이 데이터는 펭귄의 신체적 다양성을 보여주며, 생태 연구에 기초 자료로 사용됩니다. 표준편차가 큰 변수는 종별 차이가 클 수 있습니다.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부리 길이 히스토그램을 보면, 대부분의 펭귄이 40-50mm 범위에 집중되어 있습니다. KDE 곡선이 정규 분포를 따르지만, 약간의 왜곡이 있어 종별 차이를 암시합니다. Gentoo 종의 긴 부리는 물고기를 효율적으로 잡는 데 유리하며, Adelie의 짧은 부리는 다양한 먹이를 처리할 수 있습니다. 이 분포는 펭귄의 진화적 적응을 이해하는 데 중요합니다. (약 190자)</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부리 깊이의 히스토그램은 두 개의 피크를 보이는 bimodal 형태로, 종별 차이를 반영합니다. Gentoo의 깊은 부리는 큰 물고기를 처리하는 데 적합하고, Adelie의 얕은 부리는 작은 먹이에 특화되어 있습니다. 평균 17mm로, 이 차이는 먹이 경쟁을 피하는 생태적 전략입니다. 결측치가 있어 완전한 분포는 아니지만, 패턴은 명확합니다.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날개 길이 히스토그램은 Gentoo 종의 긴 날개로 인해 오른쪽 꼬리가 길어 보입니다. 평균 201mm로, 긴 날개는 깊은 바다에서 수영하는 데 유리합니다. Adelie는 상대적으로 짧아 얕은 물에서 활동합니다. 이 분포는 펭귄의 서식지 적응을 보여주며, 기후 변화로 인한 서식지 변화가 날개 길이에 미칠 영향을 예측할 수 있습니다.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체중 히스토그램은 Gentoo 종의 높은 체중으로 인해 오른쪽으로 치우친 분포를 보입니다. 평균 4202g로, 무거운 체중은 지방 저장을 의미해 혹독한 겨울을 견딜 수 있습니다. Adelie는 가벼워 빠른 움직임이 가능합니다. 이 데이터는 펭귄의 생존 전략을 이해하며, 환경 변화 모니터링에 필수적입니다. 결측치가 적어 신뢰할 수 있습니다.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박스플롯은 종별 부리 길이 차이를 명확히 보여줍니다. Gentoo의 중앙값이 가장 높고, Adelie가 낮습니다. 이상치가 있지만, 전체적으로 종별 구분이 뚜렷합니다. 이는 진화적 분화를 반영하며, 먹이 경쟁을 피하기 위한 적응입니다. 통계적으로 유의미한 차이로, 분류 모델에 유용합니다. 생물 다양성을 이해하는 데 핵심적입니다.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종별 체중 박스플롯은 Gentoo의 높은 중앙값을 강조합니다. Chinstrap의 변동성이 크다는 점이 흥미롭습니다. 이는 서식지 자원 가용성에 따른 차이로, 풍부한 먹이가 큰 체중을 만듭니다. 이상치가 있지만, 패턴은 분명합니다. 이 그래프는 펭귄의 생존 전략을 보여주며, 기후 변화로 인한 체중 감소 모니터링에 중요합니다.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산점도는 부리 길이와 깊이의 관계를 종별로 보여줍니다. 클러스터링이 명확해 종 분류에 유용합니다. 상관계수 0.23으로 약한 양의 관계입니다. 이는 부리 형태가 종별로 특화되어 있음을 나타내며, 먹이 전략 차이를 반영합니다. Gentoo의 큰 부리는 다양한 먹이를 처리합니다. 다변량 분석의 기초가 됩니다.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날개 길이와 체중의 산점도는 강한 양의 상관관계를 보입니다. 상관계수 0.87로, 큰 펭귄이 긴 날개를 가지는 일반적 패턴입니다. 클러스터링으로 종 구분이 가능하며, Gentoo가 오른쪽 위에 위치합니다. 이 관계는 수영 효율성과 연결되며, 큰 펭귄이 깊은 바다를 탐험할 수 있습니다. 이상치가 있지만, 트렌드는 명확합니다.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막대 그래프는 Adelie가 152개로 가장 많음을 보여줍니다. 이는 넓은 서식지에 기인합니다. Chinstrap은 특정 섬에 제한되어 적습니다. 이 분포는 샘플링 편향을 고려해야 하지만, 종 다양성을 반영합니다. Adelie의 우세성은 기후 변화에 대한 취약성을 시사합니다. 연구에서 이 패턴을 모니터링하는 것이 중요합니다.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교차표는 종과 섬의 관계를 요약합니다. Adelie는 모든 섬에 분포하지만, Chinstrap은 Dream에만, Gentoo는 Biscoe에 집중됩니다. 이는 섬별 환경이 종 선택을 결정하며, 먹이 경쟁을 피합니다. 예를 들어, Gentoo의 Biscoe 독점은 풍부한 먹이 때문입니다. 이 표는 보존 전략 수립에 유용합니다.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피봇테이블은 종과 성별별 평균 체중을 보여줍니다. 수컷이 암컷보다 무겁고, Gentoo 수컷이 가장 무겁습니다. 이는 성적 이형성으로, 수컷이 더 큰 역할을 합니다. 종별 차이는 서식지 자원에 따라 다르며, Adelie의 낮은 체중은 경쟁이 치열함을 나타냅니다. 이 표는 번식 생물학을 이해하며, 건강 모니터링에 사용됩니다.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섬별 개수 막대 그래프는 Biscoe가 168개로 가장 많음을 보여줍니다. 이는 큰 면적과 풍부한 먹이 때문입니다. Torgersen은 적어 접근성이 낮습니다. 이 분포는 연구 샘플링을 반영하며, 기후 변화에 따른 서식지 변화를 모니터링하는 데 중요합니다. 종 다양성과 결합하면 생태계 건강을 평가할 수 있습니다.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역 교차표는 섬과 종의 관계를 보여줍니다. Biscoe에 Gentoo와 Adelie가 많고, Dream에 Chinstrap이 집중됩니다. 이는 환경 적응을 반영하며, 특정 섬의 조건이 종을 선택합니다. 예를 들어, Dream의 Chinstrap 독점은 먹이 특성 때문입니다. 이 표는 보존 우선순위를 설정하는 데 도움이 됩니다.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피봇테이블은 섬과 종별 평균 부리 길이를 보여줍니다. Gentoo가 모든 섬에서 길고, Adelie가 짧습니다. 섬별 차이는 미미해 유전적 요인이 강함을 시사합니다. 환경 영향은 적지만, 먹이 가용성이 부리 길이에 미칠 수 있습니다. 결측치로 일부 값이 없지만, 패턴은 일관됩니다. 진화 생물학 연구에 기여합니다.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바이올린 플롯은 체중의 밀도를 보여줍니다. Gentoo의 넓은 분포는 높은 변동성을 나타내며, 환경 민감성을 시사합니다. Adelie는 대칭적입니다. 이 그래프는 박스플롯보다 세부 패턴을 제공해 건강 차이를 분석합니다. 이상치 외의 분포를 이해하며, 보존 노력에 유용합니다. (약 160자)</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페어 플롯은 모든 수치 변수의 관계를 한눈에 보여줍니다. 대각선 히스토그램과 산점도로 구성됩니다. 종별 클러스터링이 뚜렷해 분류 모델 구축에 필수적입니다. 상관관계가 강한 쌍을 쉽게 식별할 수 있습니다. 결측치로 일부 점이 누락되었지만, 전체 패턴은 명확합니다. 펭귄 생물학의 복잡성을 이해합니다.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상관관계 히트맵은 변수 간 선형 관계를 색상으로 요약합니다. 날개 길이와 체중의 상관이 0.87로 가장 높습니다. 양의 상관은 크기 관련 변수를 연결하며, 생물학적 scaling을 반영합니다. 이 히트맵은 다중공선성을 확인하고 회귀 모델에서 변수 선택에 유용합니다. 시각적 해석이 쉽습니다. (약 170자)</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카운트 플롯은 종별 성별 분포를 보여줍니다. 대부분 균형적이지만, Chinstrap에서 수컷이 약간 많습니다. 결측치 11개로 불완전하지만, 건강한 개체군을 나타냅니다. 성비 왜곡은 환경 스트레스를 시사할 수 있어 모니터링이 필요합니다. 이 그래프는 생식 생물학 연구에 중요합니다. (약 160자)</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라인 플롯은 종별 평균 부리 길이를 연결합니다. Gentoo가 가장 길고, Adelie가 짧습니다. 범주형 데이터에 적합하지 않지만, 평균 차이를 강조합니다. 이 그래프는 형태적 차이를 요약하며, 진화 연구에 유용합니다. 박스플롯과 보완적으로 사용됩니다. (약 150자)</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이 프레젠테이션에서 펭귄 데이터셋의 종별 차이를 시각화했습니다. 분석 결과, 각 종의 신체적 특성이 서식지와 먹이에 맞춰 적응되어 있음을 확인했습니다. 앞으로 기후 변화가 펭귄 개체군에 미치는 영향을 더 깊이 연구할 필요가 있습니다. 감사합니다. (약 180자)</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프레젠테이션이 끝났습니다. 질문이나 추가 논의가 있으시면 언제든 말씀해주세요. 이 분석이 펭귄 연구에 도움이 되길 바랍니다. (약 100자)</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펭귄 데이터셋 분석 프레젠테이션</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타이틀 슬라이드</a:t>
            </a:r>
          </a:p>
        </p:txBody>
      </p:sp>
      <p:sp>
        <p:nvSpPr>
          <p:cNvPr id="3" name="Content Placeholder 2"/>
          <p:cNvSpPr>
            <a:spLocks noGrp="1"/>
          </p:cNvSpPr>
          <p:nvPr>
            <p:ph idx="1"/>
          </p:nvPr>
        </p:nvSpPr>
        <p:spPr/>
        <p:txBody>
          <a:bodyPr/>
          <a:lstStyle/>
          <a:p>
            <a:pPr lvl="0" indent="0" marL="0">
              <a:buNone/>
            </a:pPr>
            <a:r>
              <a:rPr b="1"/>
              <a:t>펭귄 데이터셋 분석 보고서</a:t>
            </a:r>
          </a:p>
          <a:p>
            <a:pPr lvl="0"/>
            <a:r>
              <a:rPr/>
              <a:t>발표자: AI 어시스턴트</a:t>
            </a:r>
          </a:p>
          <a:p>
            <a:pPr lvl="0"/>
            <a:r>
              <a:rPr/>
              <a:t>날짜: 2025년 12월 23일</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소개</a:t>
            </a:r>
          </a:p>
        </p:txBody>
      </p:sp>
      <p:sp>
        <p:nvSpPr>
          <p:cNvPr id="3" name="Content Placeholder 2"/>
          <p:cNvSpPr>
            <a:spLocks noGrp="1"/>
          </p:cNvSpPr>
          <p:nvPr>
            <p:ph idx="1"/>
          </p:nvPr>
        </p:nvSpPr>
        <p:spPr/>
        <p:txBody>
          <a:bodyPr/>
          <a:lstStyle/>
          <a:p>
            <a:pPr lvl="0" indent="0" marL="0">
              <a:buNone/>
            </a:pPr>
            <a:r>
              <a:rPr/>
              <a:t>Palmer Penguins 데이터셋 소개</a:t>
            </a:r>
          </a:p>
          <a:p>
            <a:pPr lvl="0"/>
            <a:r>
              <a:rPr/>
              <a:t>세 종의 펭귄: Adelie, Chinstrap, Gentoo</a:t>
            </a:r>
          </a:p>
          <a:p>
            <a:pPr lvl="0"/>
            <a:r>
              <a:rPr/>
              <a:t>변수: 부리 길이/깊이, 날개 길이, 체중, 성별, 섬</a:t>
            </a:r>
          </a:p>
          <a:p>
            <a:pPr lvl="0"/>
            <a:r>
              <a:rPr/>
              <a:t>분석 목표: 종별 차이, 생태적 의미 이해</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데이터 개요</a:t>
            </a:r>
          </a:p>
        </p:txBody>
      </p:sp>
      <p:sp>
        <p:nvSpPr>
          <p:cNvPr id="4" name="Text Placeholder 3"/>
          <p:cNvSpPr>
            <a:spLocks noGrp="1"/>
          </p:cNvSpPr>
          <p:nvPr>
            <p:ph idx="2" sz="half" type="body"/>
          </p:nvPr>
        </p:nvSpPr>
        <p:spPr/>
        <p:txBody>
          <a:bodyPr/>
          <a:lstStyle/>
          <a:p>
            <a:pPr lvl="0" indent="0" marL="0">
              <a:spcBef>
                <a:spcPts val="3000"/>
              </a:spcBef>
              <a:buNone/>
            </a:pPr>
            <a:r>
              <a:rPr b="1"/>
              <a:t>데이터셋 정보</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속성</a:t>
                      </a:r>
                    </a:p>
                  </a:txBody>
                  <a:tcPr/>
                </a:tc>
                <a:tc>
                  <a:txBody>
                    <a:bodyPr/>
                    <a:lstStyle/>
                    <a:p>
                      <a:pPr lvl="0" indent="0" marL="0">
                        <a:buNone/>
                      </a:pPr>
                      <a:r>
                        <a:rPr/>
                        <a:t>값</a:t>
                      </a:r>
                    </a:p>
                  </a:txBody>
                  <a:tcPr/>
                </a:tc>
              </a:tr>
              <a:tr h="0">
                <a:tc>
                  <a:txBody>
                    <a:bodyPr/>
                    <a:lstStyle/>
                    <a:p>
                      <a:pPr lvl="0" indent="0" marL="0">
                        <a:buNone/>
                      </a:pPr>
                      <a:r>
                        <a:rPr/>
                        <a:t>행 수</a:t>
                      </a:r>
                    </a:p>
                  </a:txBody>
                </a:tc>
                <a:tc>
                  <a:txBody>
                    <a:bodyPr/>
                    <a:lstStyle/>
                    <a:p>
                      <a:pPr lvl="0" indent="0" marL="0">
                        <a:buNone/>
                      </a:pPr>
                      <a:r>
                        <a:rPr/>
                        <a:t>344</a:t>
                      </a:r>
                    </a:p>
                  </a:txBody>
                </a:tc>
              </a:tr>
              <a:tr h="0">
                <a:tc>
                  <a:txBody>
                    <a:bodyPr/>
                    <a:lstStyle/>
                    <a:p>
                      <a:pPr lvl="0" indent="0" marL="0">
                        <a:buNone/>
                      </a:pPr>
                      <a:r>
                        <a:rPr/>
                        <a:t>열 수</a:t>
                      </a:r>
                    </a:p>
                  </a:txBody>
                </a:tc>
                <a:tc>
                  <a:txBody>
                    <a:bodyPr/>
                    <a:lstStyle/>
                    <a:p>
                      <a:pPr lvl="0" indent="0" marL="0">
                        <a:buNone/>
                      </a:pPr>
                      <a:r>
                        <a:rPr/>
                        <a:t>7</a:t>
                      </a:r>
                    </a:p>
                  </a:txBody>
                </a:tc>
              </a:tr>
              <a:tr h="0">
                <a:tc>
                  <a:txBody>
                    <a:bodyPr/>
                    <a:lstStyle/>
                    <a:p>
                      <a:pPr lvl="0" indent="0" marL="0">
                        <a:buNone/>
                      </a:pPr>
                      <a:r>
                        <a:rPr/>
                        <a:t>데이터 타입</a:t>
                      </a:r>
                    </a:p>
                  </a:txBody>
                </a:tc>
                <a:tc>
                  <a:txBody>
                    <a:bodyPr/>
                    <a:lstStyle/>
                    <a:p>
                      <a:pPr lvl="0" indent="0" marL="0">
                        <a:buNone/>
                      </a:pPr>
                      <a:r>
                        <a:rPr/>
                        <a:t>float64(4), object(3)</a:t>
                      </a:r>
                    </a:p>
                  </a:txBody>
                </a:tc>
              </a:tr>
              <a:tr h="0">
                <a:tc>
                  <a:txBody>
                    <a:bodyPr/>
                    <a:lstStyle/>
                    <a:p>
                      <a:pPr lvl="0" indent="0" marL="0">
                        <a:buNone/>
                      </a:pPr>
                      <a:r>
                        <a:rPr/>
                        <a:t>메모리 사용량</a:t>
                      </a:r>
                    </a:p>
                  </a:txBody>
                </a:tc>
                <a:tc>
                  <a:txBody>
                    <a:bodyPr/>
                    <a:lstStyle/>
                    <a:p>
                      <a:pPr lvl="0" indent="0" marL="0">
                        <a:buNone/>
                      </a:pPr>
                      <a:r>
                        <a:rPr/>
                        <a:t>18.9+ KB</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데이터 개요 (계속)</a:t>
            </a:r>
          </a:p>
        </p:txBody>
      </p:sp>
      <p:sp>
        <p:nvSpPr>
          <p:cNvPr id="4" name="Text Placeholder 3"/>
          <p:cNvSpPr>
            <a:spLocks noGrp="1"/>
          </p:cNvSpPr>
          <p:nvPr>
            <p:ph idx="2" sz="half" type="body"/>
          </p:nvPr>
        </p:nvSpPr>
        <p:spPr/>
        <p:txBody>
          <a:bodyPr/>
          <a:lstStyle/>
          <a:p>
            <a:pPr lvl="0" indent="0" marL="0">
              <a:spcBef>
                <a:spcPts val="3000"/>
              </a:spcBef>
              <a:buNone/>
            </a:pPr>
            <a:r>
              <a:rPr b="1"/>
              <a:t>데이터셋 설명</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558800"/>
                <a:gridCol w="558800"/>
                <a:gridCol w="558800"/>
                <a:gridCol w="558800"/>
                <a:gridCol w="558800"/>
                <a:gridCol w="558800"/>
                <a:gridCol w="558800"/>
                <a:gridCol w="558800"/>
                <a:gridCol w="558800"/>
              </a:tblGrid>
              <a:tr h="0">
                <a:tc>
                  <a:txBody>
                    <a:bodyPr/>
                    <a:lstStyle/>
                    <a:p>
                      <a:pPr lvl="0" indent="0" marL="0">
                        <a:buNone/>
                      </a:pPr>
                      <a:r>
                        <a:rPr/>
                        <a:t>변수</a:t>
                      </a:r>
                    </a:p>
                  </a:txBody>
                  <a:tcPr/>
                </a:tc>
                <a:tc>
                  <a:txBody>
                    <a:bodyPr/>
                    <a:lstStyle/>
                    <a:p>
                      <a:pPr lvl="0" indent="0" marL="0">
                        <a:buNone/>
                      </a:pPr>
                      <a:r>
                        <a:rPr/>
                        <a:t>개수</a:t>
                      </a:r>
                    </a:p>
                  </a:txBody>
                  <a:tcPr/>
                </a:tc>
                <a:tc>
                  <a:txBody>
                    <a:bodyPr/>
                    <a:lstStyle/>
                    <a:p>
                      <a:pPr lvl="0" indent="0" marL="0">
                        <a:buNone/>
                      </a:pPr>
                      <a:r>
                        <a:rPr/>
                        <a:t>평균</a:t>
                      </a:r>
                    </a:p>
                  </a:txBody>
                  <a:tcPr/>
                </a:tc>
                <a:tc>
                  <a:txBody>
                    <a:bodyPr/>
                    <a:lstStyle/>
                    <a:p>
                      <a:pPr lvl="0" indent="0" marL="0">
                        <a:buNone/>
                      </a:pPr>
                      <a:r>
                        <a:rPr/>
                        <a:t>표준편차</a:t>
                      </a:r>
                    </a:p>
                  </a:txBody>
                  <a:tcPr/>
                </a:tc>
                <a:tc>
                  <a:txBody>
                    <a:bodyPr/>
                    <a:lstStyle/>
                    <a:p>
                      <a:pPr lvl="0" indent="0" marL="0">
                        <a:buNone/>
                      </a:pPr>
                      <a:r>
                        <a:rPr/>
                        <a:t>최소</a:t>
                      </a:r>
                    </a:p>
                  </a:txBody>
                  <a:tcPr/>
                </a:tc>
                <a:tc>
                  <a:txBody>
                    <a:bodyPr/>
                    <a:lstStyle/>
                    <a:p>
                      <a:pPr lvl="0" indent="0" marL="0">
                        <a:buNone/>
                      </a:pPr>
                      <a:r>
                        <a:rPr/>
                        <a:t>25%</a:t>
                      </a:r>
                    </a:p>
                  </a:txBody>
                  <a:tcPr/>
                </a:tc>
                <a:tc>
                  <a:txBody>
                    <a:bodyPr/>
                    <a:lstStyle/>
                    <a:p>
                      <a:pPr lvl="0" indent="0" marL="0">
                        <a:buNone/>
                      </a:pPr>
                      <a:r>
                        <a:rPr/>
                        <a:t>50%</a:t>
                      </a:r>
                    </a:p>
                  </a:txBody>
                  <a:tcPr/>
                </a:tc>
                <a:tc>
                  <a:txBody>
                    <a:bodyPr/>
                    <a:lstStyle/>
                    <a:p>
                      <a:pPr lvl="0" indent="0" marL="0">
                        <a:buNone/>
                      </a:pPr>
                      <a:r>
                        <a:rPr/>
                        <a:t>75%</a:t>
                      </a:r>
                    </a:p>
                  </a:txBody>
                  <a:tcPr/>
                </a:tc>
                <a:tc>
                  <a:txBody>
                    <a:bodyPr/>
                    <a:lstStyle/>
                    <a:p>
                      <a:pPr lvl="0" indent="0" marL="0">
                        <a:buNone/>
                      </a:pPr>
                      <a:r>
                        <a:rPr/>
                        <a:t>최대</a:t>
                      </a:r>
                    </a:p>
                  </a:txBody>
                  <a:tcPr/>
                </a:tc>
              </a:tr>
              <a:tr h="0">
                <a:tc>
                  <a:txBody>
                    <a:bodyPr/>
                    <a:lstStyle/>
                    <a:p>
                      <a:pPr lvl="0" indent="0" marL="0">
                        <a:buNone/>
                      </a:pPr>
                      <a:r>
                        <a:rPr/>
                        <a:t>bill_length_mm</a:t>
                      </a:r>
                    </a:p>
                  </a:txBody>
                </a:tc>
                <a:tc>
                  <a:txBody>
                    <a:bodyPr/>
                    <a:lstStyle/>
                    <a:p>
                      <a:pPr lvl="0" indent="0" marL="0">
                        <a:buNone/>
                      </a:pPr>
                      <a:r>
                        <a:rPr/>
                        <a:t>342</a:t>
                      </a:r>
                    </a:p>
                  </a:txBody>
                </a:tc>
                <a:tc>
                  <a:txBody>
                    <a:bodyPr/>
                    <a:lstStyle/>
                    <a:p>
                      <a:pPr lvl="0" indent="0" marL="0">
                        <a:buNone/>
                      </a:pPr>
                      <a:r>
                        <a:rPr/>
                        <a:t>43.92</a:t>
                      </a:r>
                    </a:p>
                  </a:txBody>
                </a:tc>
                <a:tc>
                  <a:txBody>
                    <a:bodyPr/>
                    <a:lstStyle/>
                    <a:p>
                      <a:pPr lvl="0" indent="0" marL="0">
                        <a:buNone/>
                      </a:pPr>
                      <a:r>
                        <a:rPr/>
                        <a:t>5.46</a:t>
                      </a:r>
                    </a:p>
                  </a:txBody>
                </a:tc>
                <a:tc>
                  <a:txBody>
                    <a:bodyPr/>
                    <a:lstStyle/>
                    <a:p>
                      <a:pPr lvl="0" indent="0" marL="0">
                        <a:buNone/>
                      </a:pPr>
                      <a:r>
                        <a:rPr/>
                        <a:t>32.1</a:t>
                      </a:r>
                    </a:p>
                  </a:txBody>
                </a:tc>
                <a:tc>
                  <a:txBody>
                    <a:bodyPr/>
                    <a:lstStyle/>
                    <a:p>
                      <a:pPr lvl="0" indent="0" marL="0">
                        <a:buNone/>
                      </a:pPr>
                      <a:r>
                        <a:rPr/>
                        <a:t>39.2</a:t>
                      </a:r>
                    </a:p>
                  </a:txBody>
                </a:tc>
                <a:tc>
                  <a:txBody>
                    <a:bodyPr/>
                    <a:lstStyle/>
                    <a:p>
                      <a:pPr lvl="0" indent="0" marL="0">
                        <a:buNone/>
                      </a:pPr>
                      <a:r>
                        <a:rPr/>
                        <a:t>44.5</a:t>
                      </a:r>
                    </a:p>
                  </a:txBody>
                </a:tc>
                <a:tc>
                  <a:txBody>
                    <a:bodyPr/>
                    <a:lstStyle/>
                    <a:p>
                      <a:pPr lvl="0" indent="0" marL="0">
                        <a:buNone/>
                      </a:pPr>
                      <a:r>
                        <a:rPr/>
                        <a:t>48.5</a:t>
                      </a:r>
                    </a:p>
                  </a:txBody>
                </a:tc>
                <a:tc>
                  <a:txBody>
                    <a:bodyPr/>
                    <a:lstStyle/>
                    <a:p>
                      <a:pPr lvl="0" indent="0" marL="0">
                        <a:buNone/>
                      </a:pPr>
                      <a:r>
                        <a:rPr/>
                        <a:t>59.6</a:t>
                      </a:r>
                    </a:p>
                  </a:txBody>
                </a:tc>
              </a:tr>
              <a:tr h="0">
                <a:tc>
                  <a:txBody>
                    <a:bodyPr/>
                    <a:lstStyle/>
                    <a:p>
                      <a:pPr lvl="0" indent="0" marL="0">
                        <a:buNone/>
                      </a:pPr>
                      <a:r>
                        <a:rPr/>
                        <a:t>bill_depth_mm</a:t>
                      </a:r>
                    </a:p>
                  </a:txBody>
                </a:tc>
                <a:tc>
                  <a:txBody>
                    <a:bodyPr/>
                    <a:lstStyle/>
                    <a:p>
                      <a:pPr lvl="0" indent="0" marL="0">
                        <a:buNone/>
                      </a:pPr>
                      <a:r>
                        <a:rPr/>
                        <a:t>342</a:t>
                      </a:r>
                    </a:p>
                  </a:txBody>
                </a:tc>
                <a:tc>
                  <a:txBody>
                    <a:bodyPr/>
                    <a:lstStyle/>
                    <a:p>
                      <a:pPr lvl="0" indent="0" marL="0">
                        <a:buNone/>
                      </a:pPr>
                      <a:r>
                        <a:rPr/>
                        <a:t>17.15</a:t>
                      </a:r>
                    </a:p>
                  </a:txBody>
                </a:tc>
                <a:tc>
                  <a:txBody>
                    <a:bodyPr/>
                    <a:lstStyle/>
                    <a:p>
                      <a:pPr lvl="0" indent="0" marL="0">
                        <a:buNone/>
                      </a:pPr>
                      <a:r>
                        <a:rPr/>
                        <a:t>1.97</a:t>
                      </a:r>
                    </a:p>
                  </a:txBody>
                </a:tc>
                <a:tc>
                  <a:txBody>
                    <a:bodyPr/>
                    <a:lstStyle/>
                    <a:p>
                      <a:pPr lvl="0" indent="0" marL="0">
                        <a:buNone/>
                      </a:pPr>
                      <a:r>
                        <a:rPr/>
                        <a:t>13.1</a:t>
                      </a:r>
                    </a:p>
                  </a:txBody>
                </a:tc>
                <a:tc>
                  <a:txBody>
                    <a:bodyPr/>
                    <a:lstStyle/>
                    <a:p>
                      <a:pPr lvl="0" indent="0" marL="0">
                        <a:buNone/>
                      </a:pPr>
                      <a:r>
                        <a:rPr/>
                        <a:t>15.6</a:t>
                      </a:r>
                    </a:p>
                  </a:txBody>
                </a:tc>
                <a:tc>
                  <a:txBody>
                    <a:bodyPr/>
                    <a:lstStyle/>
                    <a:p>
                      <a:pPr lvl="0" indent="0" marL="0">
                        <a:buNone/>
                      </a:pPr>
                      <a:r>
                        <a:rPr/>
                        <a:t>17.3</a:t>
                      </a:r>
                    </a:p>
                  </a:txBody>
                </a:tc>
                <a:tc>
                  <a:txBody>
                    <a:bodyPr/>
                    <a:lstStyle/>
                    <a:p>
                      <a:pPr lvl="0" indent="0" marL="0">
                        <a:buNone/>
                      </a:pPr>
                      <a:r>
                        <a:rPr/>
                        <a:t>18.7</a:t>
                      </a:r>
                    </a:p>
                  </a:txBody>
                </a:tc>
                <a:tc>
                  <a:txBody>
                    <a:bodyPr/>
                    <a:lstStyle/>
                    <a:p>
                      <a:pPr lvl="0" indent="0" marL="0">
                        <a:buNone/>
                      </a:pPr>
                      <a:r>
                        <a:rPr/>
                        <a:t>21.5</a:t>
                      </a:r>
                    </a:p>
                  </a:txBody>
                </a:tc>
              </a:tr>
              <a:tr h="0">
                <a:tc>
                  <a:txBody>
                    <a:bodyPr/>
                    <a:lstStyle/>
                    <a:p>
                      <a:pPr lvl="0" indent="0" marL="0">
                        <a:buNone/>
                      </a:pPr>
                      <a:r>
                        <a:rPr/>
                        <a:t>flipper_length_mm</a:t>
                      </a:r>
                    </a:p>
                  </a:txBody>
                </a:tc>
                <a:tc>
                  <a:txBody>
                    <a:bodyPr/>
                    <a:lstStyle/>
                    <a:p>
                      <a:pPr lvl="0" indent="0" marL="0">
                        <a:buNone/>
                      </a:pPr>
                      <a:r>
                        <a:rPr/>
                        <a:t>342</a:t>
                      </a:r>
                    </a:p>
                  </a:txBody>
                </a:tc>
                <a:tc>
                  <a:txBody>
                    <a:bodyPr/>
                    <a:lstStyle/>
                    <a:p>
                      <a:pPr lvl="0" indent="0" marL="0">
                        <a:buNone/>
                      </a:pPr>
                      <a:r>
                        <a:rPr/>
                        <a:t>200.92</a:t>
                      </a:r>
                    </a:p>
                  </a:txBody>
                </a:tc>
                <a:tc>
                  <a:txBody>
                    <a:bodyPr/>
                    <a:lstStyle/>
                    <a:p>
                      <a:pPr lvl="0" indent="0" marL="0">
                        <a:buNone/>
                      </a:pPr>
                      <a:r>
                        <a:rPr/>
                        <a:t>14.06</a:t>
                      </a:r>
                    </a:p>
                  </a:txBody>
                </a:tc>
                <a:tc>
                  <a:txBody>
                    <a:bodyPr/>
                    <a:lstStyle/>
                    <a:p>
                      <a:pPr lvl="0" indent="0" marL="0">
                        <a:buNone/>
                      </a:pPr>
                      <a:r>
                        <a:rPr/>
                        <a:t>172</a:t>
                      </a:r>
                    </a:p>
                  </a:txBody>
                </a:tc>
                <a:tc>
                  <a:txBody>
                    <a:bodyPr/>
                    <a:lstStyle/>
                    <a:p>
                      <a:pPr lvl="0" indent="0" marL="0">
                        <a:buNone/>
                      </a:pPr>
                      <a:r>
                        <a:rPr/>
                        <a:t>190</a:t>
                      </a:r>
                    </a:p>
                  </a:txBody>
                </a:tc>
                <a:tc>
                  <a:txBody>
                    <a:bodyPr/>
                    <a:lstStyle/>
                    <a:p>
                      <a:pPr lvl="0" indent="0" marL="0">
                        <a:buNone/>
                      </a:pPr>
                      <a:r>
                        <a:rPr/>
                        <a:t>197</a:t>
                      </a:r>
                    </a:p>
                  </a:txBody>
                </a:tc>
                <a:tc>
                  <a:txBody>
                    <a:bodyPr/>
                    <a:lstStyle/>
                    <a:p>
                      <a:pPr lvl="0" indent="0" marL="0">
                        <a:buNone/>
                      </a:pPr>
                      <a:r>
                        <a:rPr/>
                        <a:t>213</a:t>
                      </a:r>
                    </a:p>
                  </a:txBody>
                </a:tc>
                <a:tc>
                  <a:txBody>
                    <a:bodyPr/>
                    <a:lstStyle/>
                    <a:p>
                      <a:pPr lvl="0" indent="0" marL="0">
                        <a:buNone/>
                      </a:pPr>
                      <a:r>
                        <a:rPr/>
                        <a:t>231</a:t>
                      </a:r>
                    </a:p>
                  </a:txBody>
                </a:tc>
              </a:tr>
              <a:tr h="0">
                <a:tc>
                  <a:txBody>
                    <a:bodyPr/>
                    <a:lstStyle/>
                    <a:p>
                      <a:pPr lvl="0" indent="0" marL="0">
                        <a:buNone/>
                      </a:pPr>
                      <a:r>
                        <a:rPr/>
                        <a:t>body_mass_g</a:t>
                      </a:r>
                    </a:p>
                  </a:txBody>
                </a:tc>
                <a:tc>
                  <a:txBody>
                    <a:bodyPr/>
                    <a:lstStyle/>
                    <a:p>
                      <a:pPr lvl="0" indent="0" marL="0">
                        <a:buNone/>
                      </a:pPr>
                      <a:r>
                        <a:rPr/>
                        <a:t>342</a:t>
                      </a:r>
                    </a:p>
                  </a:txBody>
                </a:tc>
                <a:tc>
                  <a:txBody>
                    <a:bodyPr/>
                    <a:lstStyle/>
                    <a:p>
                      <a:pPr lvl="0" indent="0" marL="0">
                        <a:buNone/>
                      </a:pPr>
                      <a:r>
                        <a:rPr/>
                        <a:t>4201.75</a:t>
                      </a:r>
                    </a:p>
                  </a:txBody>
                </a:tc>
                <a:tc>
                  <a:txBody>
                    <a:bodyPr/>
                    <a:lstStyle/>
                    <a:p>
                      <a:pPr lvl="0" indent="0" marL="0">
                        <a:buNone/>
                      </a:pPr>
                      <a:r>
                        <a:rPr/>
                        <a:t>801.95</a:t>
                      </a:r>
                    </a:p>
                  </a:txBody>
                </a:tc>
                <a:tc>
                  <a:txBody>
                    <a:bodyPr/>
                    <a:lstStyle/>
                    <a:p>
                      <a:pPr lvl="0" indent="0" marL="0">
                        <a:buNone/>
                      </a:pPr>
                      <a:r>
                        <a:rPr/>
                        <a:t>2700</a:t>
                      </a:r>
                    </a:p>
                  </a:txBody>
                </a:tc>
                <a:tc>
                  <a:txBody>
                    <a:bodyPr/>
                    <a:lstStyle/>
                    <a:p>
                      <a:pPr lvl="0" indent="0" marL="0">
                        <a:buNone/>
                      </a:pPr>
                      <a:r>
                        <a:rPr/>
                        <a:t>3550</a:t>
                      </a:r>
                    </a:p>
                  </a:txBody>
                </a:tc>
                <a:tc>
                  <a:txBody>
                    <a:bodyPr/>
                    <a:lstStyle/>
                    <a:p>
                      <a:pPr lvl="0" indent="0" marL="0">
                        <a:buNone/>
                      </a:pPr>
                      <a:r>
                        <a:rPr/>
                        <a:t>4050</a:t>
                      </a:r>
                    </a:p>
                  </a:txBody>
                </a:tc>
                <a:tc>
                  <a:txBody>
                    <a:bodyPr/>
                    <a:lstStyle/>
                    <a:p>
                      <a:pPr lvl="0" indent="0" marL="0">
                        <a:buNone/>
                      </a:pPr>
                      <a:r>
                        <a:rPr/>
                        <a:t>4750</a:t>
                      </a:r>
                    </a:p>
                  </a:txBody>
                </a:tc>
                <a:tc>
                  <a:txBody>
                    <a:bodyPr/>
                    <a:lstStyle/>
                    <a:p>
                      <a:pPr lvl="0" indent="0" marL="0">
                        <a:buNone/>
                      </a:pPr>
                      <a:r>
                        <a:rPr/>
                        <a:t>6300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결측치</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변수</a:t>
                      </a:r>
                    </a:p>
                  </a:txBody>
                  <a:tcPr/>
                </a:tc>
                <a:tc>
                  <a:txBody>
                    <a:bodyPr/>
                    <a:lstStyle/>
                    <a:p>
                      <a:pPr lvl="0" indent="0" marL="0">
                        <a:buNone/>
                      </a:pPr>
                      <a:r>
                        <a:rPr/>
                        <a:t>결측치 수</a:t>
                      </a:r>
                    </a:p>
                  </a:txBody>
                  <a:tcPr/>
                </a:tc>
              </a:tr>
              <a:tr h="0">
                <a:tc>
                  <a:txBody>
                    <a:bodyPr/>
                    <a:lstStyle/>
                    <a:p>
                      <a:pPr lvl="0" indent="0" marL="0">
                        <a:buNone/>
                      </a:pPr>
                      <a:r>
                        <a:rPr/>
                        <a:t>species</a:t>
                      </a:r>
                    </a:p>
                  </a:txBody>
                </a:tc>
                <a:tc>
                  <a:txBody>
                    <a:bodyPr/>
                    <a:lstStyle/>
                    <a:p>
                      <a:pPr lvl="0" indent="0" marL="0">
                        <a:buNone/>
                      </a:pPr>
                      <a:r>
                        <a:rPr/>
                        <a:t>0</a:t>
                      </a:r>
                    </a:p>
                  </a:txBody>
                </a:tc>
              </a:tr>
              <a:tr h="0">
                <a:tc>
                  <a:txBody>
                    <a:bodyPr/>
                    <a:lstStyle/>
                    <a:p>
                      <a:pPr lvl="0" indent="0" marL="0">
                        <a:buNone/>
                      </a:pPr>
                      <a:r>
                        <a:rPr/>
                        <a:t>island</a:t>
                      </a:r>
                    </a:p>
                  </a:txBody>
                </a:tc>
                <a:tc>
                  <a:txBody>
                    <a:bodyPr/>
                    <a:lstStyle/>
                    <a:p>
                      <a:pPr lvl="0" indent="0" marL="0">
                        <a:buNone/>
                      </a:pPr>
                      <a:r>
                        <a:rPr/>
                        <a:t>0</a:t>
                      </a:r>
                    </a:p>
                  </a:txBody>
                </a:tc>
              </a:tr>
              <a:tr h="0">
                <a:tc>
                  <a:txBody>
                    <a:bodyPr/>
                    <a:lstStyle/>
                    <a:p>
                      <a:pPr lvl="0" indent="0" marL="0">
                        <a:buNone/>
                      </a:pPr>
                      <a:r>
                        <a:rPr/>
                        <a:t>bill_length_mm</a:t>
                      </a:r>
                    </a:p>
                  </a:txBody>
                </a:tc>
                <a:tc>
                  <a:txBody>
                    <a:bodyPr/>
                    <a:lstStyle/>
                    <a:p>
                      <a:pPr lvl="0" indent="0" marL="0">
                        <a:buNone/>
                      </a:pPr>
                      <a:r>
                        <a:rPr/>
                        <a:t>2</a:t>
                      </a:r>
                    </a:p>
                  </a:txBody>
                </a:tc>
              </a:tr>
              <a:tr h="0">
                <a:tc>
                  <a:txBody>
                    <a:bodyPr/>
                    <a:lstStyle/>
                    <a:p>
                      <a:pPr lvl="0" indent="0" marL="0">
                        <a:buNone/>
                      </a:pPr>
                      <a:r>
                        <a:rPr/>
                        <a:t>bill_depth_mm</a:t>
                      </a:r>
                    </a:p>
                  </a:txBody>
                </a:tc>
                <a:tc>
                  <a:txBody>
                    <a:bodyPr/>
                    <a:lstStyle/>
                    <a:p>
                      <a:pPr lvl="0" indent="0" marL="0">
                        <a:buNone/>
                      </a:pPr>
                      <a:r>
                        <a:rPr/>
                        <a:t>2</a:t>
                      </a:r>
                    </a:p>
                  </a:txBody>
                </a:tc>
              </a:tr>
              <a:tr h="0">
                <a:tc>
                  <a:txBody>
                    <a:bodyPr/>
                    <a:lstStyle/>
                    <a:p>
                      <a:pPr lvl="0" indent="0" marL="0">
                        <a:buNone/>
                      </a:pPr>
                      <a:r>
                        <a:rPr/>
                        <a:t>flipper_length_mm</a:t>
                      </a:r>
                    </a:p>
                  </a:txBody>
                </a:tc>
                <a:tc>
                  <a:txBody>
                    <a:bodyPr/>
                    <a:lstStyle/>
                    <a:p>
                      <a:pPr lvl="0" indent="0" marL="0">
                        <a:buNone/>
                      </a:pPr>
                      <a:r>
                        <a:rPr/>
                        <a:t>2</a:t>
                      </a:r>
                    </a:p>
                  </a:txBody>
                </a:tc>
              </a:tr>
              <a:tr h="0">
                <a:tc>
                  <a:txBody>
                    <a:bodyPr/>
                    <a:lstStyle/>
                    <a:p>
                      <a:pPr lvl="0" indent="0" marL="0">
                        <a:buNone/>
                      </a:pPr>
                      <a:r>
                        <a:rPr/>
                        <a:t>body_mass_g</a:t>
                      </a:r>
                    </a:p>
                  </a:txBody>
                </a:tc>
                <a:tc>
                  <a:txBody>
                    <a:bodyPr/>
                    <a:lstStyle/>
                    <a:p>
                      <a:pPr lvl="0" indent="0" marL="0">
                        <a:buNone/>
                      </a:pPr>
                      <a:r>
                        <a:rPr/>
                        <a:t>2</a:t>
                      </a:r>
                    </a:p>
                  </a:txBody>
                </a:tc>
              </a:tr>
              <a:tr h="0">
                <a:tc>
                  <a:txBody>
                    <a:bodyPr/>
                    <a:lstStyle/>
                    <a:p>
                      <a:pPr lvl="0" indent="0" marL="0">
                        <a:buNone/>
                      </a:pPr>
                      <a:r>
                        <a:rPr/>
                        <a:t>sex</a:t>
                      </a:r>
                    </a:p>
                  </a:txBody>
                </a:tc>
                <a:tc>
                  <a:txBody>
                    <a:bodyPr/>
                    <a:lstStyle/>
                    <a:p>
                      <a:pPr lvl="0" indent="0" marL="0">
                        <a:buNone/>
                      </a:pPr>
                      <a:r>
                        <a:rPr/>
                        <a:t>11</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 부리 길이 히스토그램</a:t>
            </a:r>
          </a:p>
        </p:txBody>
      </p:sp>
      <p:pic>
        <p:nvPicPr>
          <p:cNvPr descr="bill_length_hist.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부리 길이 히스토그램</a:t>
            </a:r>
          </a:p>
        </p:txBody>
      </p:sp>
      <p:sp>
        <p:nvSpPr>
          <p:cNvPr id="3" name="Content Placeholder 2"/>
          <p:cNvSpPr>
            <a:spLocks noGrp="1"/>
          </p:cNvSpPr>
          <p:nvPr>
            <p:ph idx="1"/>
          </p:nvPr>
        </p:nvSpPr>
        <p:spPr/>
        <p:txBody>
          <a:bodyPr/>
          <a:lstStyle/>
          <a:p>
            <a:pPr lvl="0" indent="0" marL="0">
              <a:buNone/>
            </a:pPr>
            <a:r>
              <a:rPr b="1"/>
              <a:t>인사이트:</a:t>
            </a:r>
            <a:r>
              <a:rPr/>
              <a:t> 부리 길이 분포는 정규에 가까우나 종별 차이 존재. 평균 44mm, Gentoo가 길고 Adelie가 짧음. 생태적 적응 반영.</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2: 부리 깊이 히스토그램</a:t>
            </a:r>
          </a:p>
        </p:txBody>
      </p:sp>
      <p:pic>
        <p:nvPicPr>
          <p:cNvPr descr="bill_depth_hist.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부리 깊이 히스토그램</a:t>
            </a:r>
          </a:p>
        </p:txBody>
      </p:sp>
      <p:sp>
        <p:nvSpPr>
          <p:cNvPr id="3" name="Content Placeholder 2"/>
          <p:cNvSpPr>
            <a:spLocks noGrp="1"/>
          </p:cNvSpPr>
          <p:nvPr>
            <p:ph idx="1"/>
          </p:nvPr>
        </p:nvSpPr>
        <p:spPr/>
        <p:txBody>
          <a:bodyPr/>
          <a:lstStyle/>
          <a:p>
            <a:pPr lvl="0" indent="0" marL="0">
              <a:buNone/>
            </a:pPr>
            <a:r>
              <a:rPr b="1"/>
              <a:t>인사이트:</a:t>
            </a:r>
            <a:r>
              <a:rPr/>
              <a:t> 깊이 분포는 bimodal 경향. Gentoo가 깊고, Adelie 얕음. 먹이 처리 방식 차이.</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3: 날개 길이 히스토그램</a:t>
            </a:r>
          </a:p>
        </p:txBody>
      </p:sp>
      <p:pic>
        <p:nvPicPr>
          <p:cNvPr descr="flipper_length_hist.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날개 길이 히스토그램</a:t>
            </a:r>
          </a:p>
        </p:txBody>
      </p:sp>
      <p:sp>
        <p:nvSpPr>
          <p:cNvPr id="3" name="Content Placeholder 2"/>
          <p:cNvSpPr>
            <a:spLocks noGrp="1"/>
          </p:cNvSpPr>
          <p:nvPr>
            <p:ph idx="1"/>
          </p:nvPr>
        </p:nvSpPr>
        <p:spPr/>
        <p:txBody>
          <a:bodyPr/>
          <a:lstStyle/>
          <a:p>
            <a:pPr lvl="0" indent="0" marL="0">
              <a:buNone/>
            </a:pPr>
            <a:r>
              <a:rPr b="1"/>
              <a:t>인사이트:</a:t>
            </a:r>
            <a:r>
              <a:rPr/>
              <a:t> 평균 201mm, Gentoo가 가장 길어 수영 효율 높음. 서식지 적응.</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4: 체중 히스토그램</a:t>
            </a:r>
          </a:p>
        </p:txBody>
      </p:sp>
      <p:pic>
        <p:nvPicPr>
          <p:cNvPr descr="body_mass_hist.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체중 히스토그램</a:t>
            </a:r>
          </a:p>
        </p:txBody>
      </p:sp>
      <p:sp>
        <p:nvSpPr>
          <p:cNvPr id="3" name="Content Placeholder 2"/>
          <p:cNvSpPr>
            <a:spLocks noGrp="1"/>
          </p:cNvSpPr>
          <p:nvPr>
            <p:ph idx="1"/>
          </p:nvPr>
        </p:nvSpPr>
        <p:spPr/>
        <p:txBody>
          <a:bodyPr/>
          <a:lstStyle/>
          <a:p>
            <a:pPr lvl="0" indent="0" marL="0">
              <a:buNone/>
            </a:pPr>
            <a:r>
              <a:rPr b="1"/>
              <a:t>인사이트:</a:t>
            </a:r>
            <a:r>
              <a:rPr/>
              <a:t> 평균 4202g, Gentoo 무거움. 지방 저장으로 겨울 견딜 수 있음.</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5: 종별 부리 길이 박스플롯</a:t>
            </a:r>
          </a:p>
        </p:txBody>
      </p:sp>
      <p:pic>
        <p:nvPicPr>
          <p:cNvPr descr="bill_length_box.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종별 부리 길이 박스플롯</a:t>
            </a:r>
          </a:p>
        </p:txBody>
      </p:sp>
      <p:sp>
        <p:nvSpPr>
          <p:cNvPr id="3" name="Content Placeholder 2"/>
          <p:cNvSpPr>
            <a:spLocks noGrp="1"/>
          </p:cNvSpPr>
          <p:nvPr>
            <p:ph idx="1"/>
          </p:nvPr>
        </p:nvSpPr>
        <p:spPr/>
        <p:txBody>
          <a:bodyPr/>
          <a:lstStyle/>
          <a:p>
            <a:pPr lvl="0" indent="0" marL="0">
              <a:buNone/>
            </a:pPr>
            <a:r>
              <a:rPr b="1"/>
              <a:t>인사이트:</a:t>
            </a:r>
            <a:r>
              <a:rPr/>
              <a:t> Gentoo 중앙값 높음. 진화적 분화, 먹이 경쟁 피함.</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6: 종별 체중 박스플롯</a:t>
            </a:r>
          </a:p>
        </p:txBody>
      </p:sp>
      <p:pic>
        <p:nvPicPr>
          <p:cNvPr descr="body_mass_box.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종별 체중 박스플롯</a:t>
            </a:r>
          </a:p>
        </p:txBody>
      </p:sp>
      <p:sp>
        <p:nvSpPr>
          <p:cNvPr id="3" name="Content Placeholder 2"/>
          <p:cNvSpPr>
            <a:spLocks noGrp="1"/>
          </p:cNvSpPr>
          <p:nvPr>
            <p:ph idx="1"/>
          </p:nvPr>
        </p:nvSpPr>
        <p:spPr/>
        <p:txBody>
          <a:bodyPr/>
          <a:lstStyle/>
          <a:p>
            <a:pPr lvl="0" indent="0" marL="0">
              <a:buNone/>
            </a:pPr>
            <a:r>
              <a:rPr b="1"/>
              <a:t>인사이트:</a:t>
            </a:r>
            <a:r>
              <a:rPr/>
              <a:t> Gentoo 무거움. 서식지 자원 영향.</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7: 부리 길이 vs 깊이 산점도</a:t>
            </a:r>
          </a:p>
        </p:txBody>
      </p:sp>
      <p:pic>
        <p:nvPicPr>
          <p:cNvPr descr="bill_scatter.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부리 길이 vs 부리 깊이 산점도</a:t>
            </a:r>
          </a:p>
        </p:txBody>
      </p:sp>
      <p:sp>
        <p:nvSpPr>
          <p:cNvPr id="3" name="Content Placeholder 2"/>
          <p:cNvSpPr>
            <a:spLocks noGrp="1"/>
          </p:cNvSpPr>
          <p:nvPr>
            <p:ph idx="1"/>
          </p:nvPr>
        </p:nvSpPr>
        <p:spPr/>
        <p:txBody>
          <a:bodyPr/>
          <a:lstStyle/>
          <a:p>
            <a:pPr lvl="0" indent="0" marL="0">
              <a:buNone/>
            </a:pPr>
            <a:r>
              <a:rPr b="1"/>
              <a:t>인사이트:</a:t>
            </a:r>
            <a:r>
              <a:rPr/>
              <a:t> 클러스터링 뚜렷. 약한 상관관계. 종별 특화.</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8: 날개 길이 vs 체중 산점도</a:t>
            </a:r>
          </a:p>
        </p:txBody>
      </p:sp>
      <p:pic>
        <p:nvPicPr>
          <p:cNvPr descr="flipper_body_scatter.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날개 길이 vs 체중 산점도</a:t>
            </a:r>
          </a:p>
        </p:txBody>
      </p:sp>
      <p:sp>
        <p:nvSpPr>
          <p:cNvPr id="3" name="Content Placeholder 2"/>
          <p:cNvSpPr>
            <a:spLocks noGrp="1"/>
          </p:cNvSpPr>
          <p:nvPr>
            <p:ph idx="1"/>
          </p:nvPr>
        </p:nvSpPr>
        <p:spPr/>
        <p:txBody>
          <a:bodyPr/>
          <a:lstStyle/>
          <a:p>
            <a:pPr lvl="0" indent="0" marL="0">
              <a:buNone/>
            </a:pPr>
            <a:r>
              <a:rPr b="1"/>
              <a:t>인사이트:</a:t>
            </a:r>
            <a:r>
              <a:rPr/>
              <a:t> 강한 양 상관. 척추동물 패턴. 수영 효율.</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9: 종별 개수 막대 그래프</a:t>
            </a:r>
          </a:p>
        </p:txBody>
      </p:sp>
      <p:pic>
        <p:nvPicPr>
          <p:cNvPr descr="species_bar.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종별 개수 막대 그래프</a:t>
            </a:r>
          </a:p>
        </p:txBody>
      </p:sp>
      <p:sp>
        <p:nvSpPr>
          <p:cNvPr id="3" name="Content Placeholder 2"/>
          <p:cNvSpPr>
            <a:spLocks noGrp="1"/>
          </p:cNvSpPr>
          <p:nvPr>
            <p:ph idx="1"/>
          </p:nvPr>
        </p:nvSpPr>
        <p:spPr/>
        <p:txBody>
          <a:bodyPr/>
          <a:lstStyle/>
          <a:p>
            <a:pPr lvl="0" indent="0" marL="0">
              <a:buNone/>
            </a:pPr>
            <a:r>
              <a:rPr b="1"/>
              <a:t>인사이트:</a:t>
            </a:r>
            <a:r>
              <a:rPr/>
              <a:t> Adelie 우세. 넓은 서식지. 기후 취약성.</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교차표: 종 vs 섬</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섬</a:t>
                      </a:r>
                    </a:p>
                  </a:txBody>
                  <a:tcPr/>
                </a:tc>
                <a:tc>
                  <a:txBody>
                    <a:bodyPr/>
                    <a:lstStyle/>
                    <a:p>
                      <a:pPr lvl="0" indent="0" marL="0">
                        <a:buNone/>
                      </a:pPr>
                      <a:r>
                        <a:rPr/>
                        <a:t>Adelie</a:t>
                      </a:r>
                    </a:p>
                  </a:txBody>
                  <a:tcPr/>
                </a:tc>
                <a:tc>
                  <a:txBody>
                    <a:bodyPr/>
                    <a:lstStyle/>
                    <a:p>
                      <a:pPr lvl="0" indent="0" marL="0">
                        <a:buNone/>
                      </a:pPr>
                      <a:r>
                        <a:rPr/>
                        <a:t>Chinstrap</a:t>
                      </a:r>
                    </a:p>
                  </a:txBody>
                  <a:tcPr/>
                </a:tc>
                <a:tc>
                  <a:txBody>
                    <a:bodyPr/>
                    <a:lstStyle/>
                    <a:p>
                      <a:pPr lvl="0" indent="0" marL="0">
                        <a:buNone/>
                      </a:pPr>
                      <a:r>
                        <a:rPr/>
                        <a:t>Gentoo</a:t>
                      </a:r>
                    </a:p>
                  </a:txBody>
                  <a:tcPr/>
                </a:tc>
              </a:tr>
              <a:tr h="0">
                <a:tc>
                  <a:txBody>
                    <a:bodyPr/>
                    <a:lstStyle/>
                    <a:p>
                      <a:pPr lvl="0" indent="0" marL="0">
                        <a:buNone/>
                      </a:pPr>
                      <a:r>
                        <a:rPr/>
                        <a:t>Biscoe</a:t>
                      </a:r>
                    </a:p>
                  </a:txBody>
                </a:tc>
                <a:tc>
                  <a:txBody>
                    <a:bodyPr/>
                    <a:lstStyle/>
                    <a:p>
                      <a:pPr lvl="0" indent="0" marL="0">
                        <a:buNone/>
                      </a:pPr>
                      <a:r>
                        <a:rPr/>
                        <a:t>44</a:t>
                      </a:r>
                    </a:p>
                  </a:txBody>
                </a:tc>
                <a:tc>
                  <a:txBody>
                    <a:bodyPr/>
                    <a:lstStyle/>
                    <a:p>
                      <a:pPr lvl="0" indent="0" marL="0">
                        <a:buNone/>
                      </a:pPr>
                      <a:r>
                        <a:rPr/>
                        <a:t>0</a:t>
                      </a:r>
                    </a:p>
                  </a:txBody>
                </a:tc>
                <a:tc>
                  <a:txBody>
                    <a:bodyPr/>
                    <a:lstStyle/>
                    <a:p>
                      <a:pPr lvl="0" indent="0" marL="0">
                        <a:buNone/>
                      </a:pPr>
                      <a:r>
                        <a:rPr/>
                        <a:t>124</a:t>
                      </a:r>
                    </a:p>
                  </a:txBody>
                </a:tc>
              </a:tr>
              <a:tr h="0">
                <a:tc>
                  <a:txBody>
                    <a:bodyPr/>
                    <a:lstStyle/>
                    <a:p>
                      <a:pPr lvl="0" indent="0" marL="0">
                        <a:buNone/>
                      </a:pPr>
                      <a:r>
                        <a:rPr/>
                        <a:t>Dream</a:t>
                      </a:r>
                    </a:p>
                  </a:txBody>
                </a:tc>
                <a:tc>
                  <a:txBody>
                    <a:bodyPr/>
                    <a:lstStyle/>
                    <a:p>
                      <a:pPr lvl="0" indent="0" marL="0">
                        <a:buNone/>
                      </a:pPr>
                      <a:r>
                        <a:rPr/>
                        <a:t>56</a:t>
                      </a:r>
                    </a:p>
                  </a:txBody>
                </a:tc>
                <a:tc>
                  <a:txBody>
                    <a:bodyPr/>
                    <a:lstStyle/>
                    <a:p>
                      <a:pPr lvl="0" indent="0" marL="0">
                        <a:buNone/>
                      </a:pPr>
                      <a:r>
                        <a:rPr/>
                        <a:t>68</a:t>
                      </a:r>
                    </a:p>
                  </a:txBody>
                </a:tc>
                <a:tc>
                  <a:txBody>
                    <a:bodyPr/>
                    <a:lstStyle/>
                    <a:p>
                      <a:pPr lvl="0" indent="0" marL="0">
                        <a:buNone/>
                      </a:pPr>
                      <a:r>
                        <a:rPr/>
                        <a:t>0</a:t>
                      </a:r>
                    </a:p>
                  </a:txBody>
                </a:tc>
              </a:tr>
              <a:tr h="0">
                <a:tc>
                  <a:txBody>
                    <a:bodyPr/>
                    <a:lstStyle/>
                    <a:p>
                      <a:pPr lvl="0" indent="0" marL="0">
                        <a:buNone/>
                      </a:pPr>
                      <a:r>
                        <a:rPr/>
                        <a:t>Torgersen</a:t>
                      </a:r>
                    </a:p>
                  </a:txBody>
                </a:tc>
                <a:tc>
                  <a:txBody>
                    <a:bodyPr/>
                    <a:lstStyle/>
                    <a:p>
                      <a:pPr lvl="0" indent="0" marL="0">
                        <a:buNone/>
                      </a:pPr>
                      <a:r>
                        <a:rPr/>
                        <a:t>52</a:t>
                      </a:r>
                    </a:p>
                  </a:txBody>
                </a:tc>
                <a:tc>
                  <a:txBody>
                    <a:bodyPr/>
                    <a:lstStyle/>
                    <a:p>
                      <a:pPr lvl="0" indent="0" marL="0">
                        <a:buNone/>
                      </a:pPr>
                      <a:r>
                        <a:rPr/>
                        <a:t>0</a:t>
                      </a:r>
                    </a:p>
                  </a:txBody>
                </a:tc>
                <a:tc>
                  <a:txBody>
                    <a:bodyPr/>
                    <a:lstStyle/>
                    <a:p>
                      <a:pPr lvl="0" indent="0" marL="0">
                        <a:buNone/>
                      </a:pPr>
                      <a:r>
                        <a:rPr/>
                        <a:t>0</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r>
              <a:rPr/>
              <a:t> 섬별 분포. 경쟁 피함. 보존 우선순위.</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피봇테이블: 종 및 성별 평균 체중</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종</a:t>
                      </a:r>
                    </a:p>
                  </a:txBody>
                  <a:tcPr/>
                </a:tc>
                <a:tc>
                  <a:txBody>
                    <a:bodyPr/>
                    <a:lstStyle/>
                    <a:p>
                      <a:pPr lvl="0" indent="0" marL="0">
                        <a:buNone/>
                      </a:pPr>
                      <a:r>
                        <a:rPr/>
                        <a:t>Female</a:t>
                      </a:r>
                    </a:p>
                  </a:txBody>
                  <a:tcPr/>
                </a:tc>
                <a:tc>
                  <a:txBody>
                    <a:bodyPr/>
                    <a:lstStyle/>
                    <a:p>
                      <a:pPr lvl="0" indent="0" marL="0">
                        <a:buNone/>
                      </a:pPr>
                      <a:r>
                        <a:rPr/>
                        <a:t>Male</a:t>
                      </a:r>
                    </a:p>
                  </a:txBody>
                  <a:tcPr/>
                </a:tc>
              </a:tr>
              <a:tr h="0">
                <a:tc>
                  <a:txBody>
                    <a:bodyPr/>
                    <a:lstStyle/>
                    <a:p>
                      <a:pPr lvl="0" indent="0" marL="0">
                        <a:buNone/>
                      </a:pPr>
                      <a:r>
                        <a:rPr/>
                        <a:t>Adelie</a:t>
                      </a:r>
                    </a:p>
                  </a:txBody>
                </a:tc>
                <a:tc>
                  <a:txBody>
                    <a:bodyPr/>
                    <a:lstStyle/>
                    <a:p>
                      <a:pPr lvl="0" indent="0" marL="0">
                        <a:buNone/>
                      </a:pPr>
                      <a:r>
                        <a:rPr/>
                        <a:t>3369</a:t>
                      </a:r>
                    </a:p>
                  </a:txBody>
                </a:tc>
                <a:tc>
                  <a:txBody>
                    <a:bodyPr/>
                    <a:lstStyle/>
                    <a:p>
                      <a:pPr lvl="0" indent="0" marL="0">
                        <a:buNone/>
                      </a:pPr>
                      <a:r>
                        <a:rPr/>
                        <a:t>4043</a:t>
                      </a:r>
                    </a:p>
                  </a:txBody>
                </a:tc>
              </a:tr>
              <a:tr h="0">
                <a:tc>
                  <a:txBody>
                    <a:bodyPr/>
                    <a:lstStyle/>
                    <a:p>
                      <a:pPr lvl="0" indent="0" marL="0">
                        <a:buNone/>
                      </a:pPr>
                      <a:r>
                        <a:rPr/>
                        <a:t>Chinstrap</a:t>
                      </a:r>
                    </a:p>
                  </a:txBody>
                </a:tc>
                <a:tc>
                  <a:txBody>
                    <a:bodyPr/>
                    <a:lstStyle/>
                    <a:p>
                      <a:pPr lvl="0" indent="0" marL="0">
                        <a:buNone/>
                      </a:pPr>
                      <a:r>
                        <a:rPr/>
                        <a:t>3527</a:t>
                      </a:r>
                    </a:p>
                  </a:txBody>
                </a:tc>
                <a:tc>
                  <a:txBody>
                    <a:bodyPr/>
                    <a:lstStyle/>
                    <a:p>
                      <a:pPr lvl="0" indent="0" marL="0">
                        <a:buNone/>
                      </a:pPr>
                      <a:r>
                        <a:rPr/>
                        <a:t>3939</a:t>
                      </a:r>
                    </a:p>
                  </a:txBody>
                </a:tc>
              </a:tr>
              <a:tr h="0">
                <a:tc>
                  <a:txBody>
                    <a:bodyPr/>
                    <a:lstStyle/>
                    <a:p>
                      <a:pPr lvl="0" indent="0" marL="0">
                        <a:buNone/>
                      </a:pPr>
                      <a:r>
                        <a:rPr/>
                        <a:t>Gentoo</a:t>
                      </a:r>
                    </a:p>
                  </a:txBody>
                </a:tc>
                <a:tc>
                  <a:txBody>
                    <a:bodyPr/>
                    <a:lstStyle/>
                    <a:p>
                      <a:pPr lvl="0" indent="0" marL="0">
                        <a:buNone/>
                      </a:pPr>
                      <a:r>
                        <a:rPr/>
                        <a:t>4680</a:t>
                      </a:r>
                    </a:p>
                  </a:txBody>
                </a:tc>
                <a:tc>
                  <a:txBody>
                    <a:bodyPr/>
                    <a:lstStyle/>
                    <a:p>
                      <a:pPr lvl="0" indent="0" marL="0">
                        <a:buNone/>
                      </a:pPr>
                      <a:r>
                        <a:rPr/>
                        <a:t>5485</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r>
              <a:rPr/>
              <a:t> 수컷 무거움. 성적 이형성. 번식 생물학.</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10: 섬별 개수 막대 그래프</a:t>
            </a:r>
          </a:p>
        </p:txBody>
      </p:sp>
      <p:pic>
        <p:nvPicPr>
          <p:cNvPr descr="island_bar.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섬별 개수 막대 그래프</a:t>
            </a:r>
          </a:p>
        </p:txBody>
      </p:sp>
      <p:sp>
        <p:nvSpPr>
          <p:cNvPr id="3" name="Content Placeholder 2"/>
          <p:cNvSpPr>
            <a:spLocks noGrp="1"/>
          </p:cNvSpPr>
          <p:nvPr>
            <p:ph idx="1"/>
          </p:nvPr>
        </p:nvSpPr>
        <p:spPr/>
        <p:txBody>
          <a:bodyPr/>
          <a:lstStyle/>
          <a:p>
            <a:pPr lvl="0" indent="0" marL="0">
              <a:buNone/>
            </a:pPr>
            <a:r>
              <a:rPr b="1"/>
              <a:t>인사이트:</a:t>
            </a:r>
            <a:r>
              <a:rPr/>
              <a:t> Biscoe 많음. 면적과 먹이 영향.</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교차표: 섬 vs 종</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종</a:t>
                      </a:r>
                    </a:p>
                  </a:txBody>
                  <a:tcPr/>
                </a:tc>
                <a:tc>
                  <a:txBody>
                    <a:bodyPr/>
                    <a:lstStyle/>
                    <a:p>
                      <a:pPr lvl="0" indent="0" marL="0">
                        <a:buNone/>
                      </a:pPr>
                      <a:r>
                        <a:rPr/>
                        <a:t>Adelie</a:t>
                      </a:r>
                    </a:p>
                  </a:txBody>
                  <a:tcPr/>
                </a:tc>
                <a:tc>
                  <a:txBody>
                    <a:bodyPr/>
                    <a:lstStyle/>
                    <a:p>
                      <a:pPr lvl="0" indent="0" marL="0">
                        <a:buNone/>
                      </a:pPr>
                      <a:r>
                        <a:rPr/>
                        <a:t>Chinstrap</a:t>
                      </a:r>
                    </a:p>
                  </a:txBody>
                  <a:tcPr/>
                </a:tc>
                <a:tc>
                  <a:txBody>
                    <a:bodyPr/>
                    <a:lstStyle/>
                    <a:p>
                      <a:pPr lvl="0" indent="0" marL="0">
                        <a:buNone/>
                      </a:pPr>
                      <a:r>
                        <a:rPr/>
                        <a:t>Gentoo</a:t>
                      </a:r>
                    </a:p>
                  </a:txBody>
                  <a:tcPr/>
                </a:tc>
              </a:tr>
              <a:tr h="0">
                <a:tc>
                  <a:txBody>
                    <a:bodyPr/>
                    <a:lstStyle/>
                    <a:p>
                      <a:pPr lvl="0" indent="0" marL="0">
                        <a:buNone/>
                      </a:pPr>
                      <a:r>
                        <a:rPr/>
                        <a:t>Biscoe</a:t>
                      </a:r>
                    </a:p>
                  </a:txBody>
                </a:tc>
                <a:tc>
                  <a:txBody>
                    <a:bodyPr/>
                    <a:lstStyle/>
                    <a:p>
                      <a:pPr lvl="0" indent="0" marL="0">
                        <a:buNone/>
                      </a:pPr>
                      <a:r>
                        <a:rPr/>
                        <a:t>44</a:t>
                      </a:r>
                    </a:p>
                  </a:txBody>
                </a:tc>
                <a:tc>
                  <a:txBody>
                    <a:bodyPr/>
                    <a:lstStyle/>
                    <a:p>
                      <a:pPr lvl="0" indent="0" marL="0">
                        <a:buNone/>
                      </a:pPr>
                      <a:r>
                        <a:rPr/>
                        <a:t>0</a:t>
                      </a:r>
                    </a:p>
                  </a:txBody>
                </a:tc>
                <a:tc>
                  <a:txBody>
                    <a:bodyPr/>
                    <a:lstStyle/>
                    <a:p>
                      <a:pPr lvl="0" indent="0" marL="0">
                        <a:buNone/>
                      </a:pPr>
                      <a:r>
                        <a:rPr/>
                        <a:t>124</a:t>
                      </a:r>
                    </a:p>
                  </a:txBody>
                </a:tc>
              </a:tr>
              <a:tr h="0">
                <a:tc>
                  <a:txBody>
                    <a:bodyPr/>
                    <a:lstStyle/>
                    <a:p>
                      <a:pPr lvl="0" indent="0" marL="0">
                        <a:buNone/>
                      </a:pPr>
                      <a:r>
                        <a:rPr/>
                        <a:t>Dream</a:t>
                      </a:r>
                    </a:p>
                  </a:txBody>
                </a:tc>
                <a:tc>
                  <a:txBody>
                    <a:bodyPr/>
                    <a:lstStyle/>
                    <a:p>
                      <a:pPr lvl="0" indent="0" marL="0">
                        <a:buNone/>
                      </a:pPr>
                      <a:r>
                        <a:rPr/>
                        <a:t>56</a:t>
                      </a:r>
                    </a:p>
                  </a:txBody>
                </a:tc>
                <a:tc>
                  <a:txBody>
                    <a:bodyPr/>
                    <a:lstStyle/>
                    <a:p>
                      <a:pPr lvl="0" indent="0" marL="0">
                        <a:buNone/>
                      </a:pPr>
                      <a:r>
                        <a:rPr/>
                        <a:t>68</a:t>
                      </a:r>
                    </a:p>
                  </a:txBody>
                </a:tc>
                <a:tc>
                  <a:txBody>
                    <a:bodyPr/>
                    <a:lstStyle/>
                    <a:p>
                      <a:pPr lvl="0" indent="0" marL="0">
                        <a:buNone/>
                      </a:pPr>
                      <a:r>
                        <a:rPr/>
                        <a:t>0</a:t>
                      </a:r>
                    </a:p>
                  </a:txBody>
                </a:tc>
              </a:tr>
              <a:tr h="0">
                <a:tc>
                  <a:txBody>
                    <a:bodyPr/>
                    <a:lstStyle/>
                    <a:p>
                      <a:pPr lvl="0" indent="0" marL="0">
                        <a:buNone/>
                      </a:pPr>
                      <a:r>
                        <a:rPr/>
                        <a:t>Torgersen</a:t>
                      </a:r>
                    </a:p>
                  </a:txBody>
                </a:tc>
                <a:tc>
                  <a:txBody>
                    <a:bodyPr/>
                    <a:lstStyle/>
                    <a:p>
                      <a:pPr lvl="0" indent="0" marL="0">
                        <a:buNone/>
                      </a:pPr>
                      <a:r>
                        <a:rPr/>
                        <a:t>52</a:t>
                      </a:r>
                    </a:p>
                  </a:txBody>
                </a:tc>
                <a:tc>
                  <a:txBody>
                    <a:bodyPr/>
                    <a:lstStyle/>
                    <a:p>
                      <a:pPr lvl="0" indent="0" marL="0">
                        <a:buNone/>
                      </a:pPr>
                      <a:r>
                        <a:rPr/>
                        <a:t>0</a:t>
                      </a:r>
                    </a:p>
                  </a:txBody>
                </a:tc>
                <a:tc>
                  <a:txBody>
                    <a:bodyPr/>
                    <a:lstStyle/>
                    <a:p>
                      <a:pPr lvl="0" indent="0" marL="0">
                        <a:buNone/>
                      </a:pPr>
                      <a:r>
                        <a:rPr/>
                        <a:t>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r>
              <a:rPr/>
              <a:t> 역 분포. 환경 적응.</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피봇테이블: 섬 및 종별 평균 부리 길이</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섬</a:t>
                      </a:r>
                    </a:p>
                  </a:txBody>
                  <a:tcPr/>
                </a:tc>
                <a:tc>
                  <a:txBody>
                    <a:bodyPr/>
                    <a:lstStyle/>
                    <a:p>
                      <a:pPr lvl="0" indent="0" marL="0">
                        <a:buNone/>
                      </a:pPr>
                      <a:r>
                        <a:rPr/>
                        <a:t>Adelie</a:t>
                      </a:r>
                    </a:p>
                  </a:txBody>
                  <a:tcPr/>
                </a:tc>
                <a:tc>
                  <a:txBody>
                    <a:bodyPr/>
                    <a:lstStyle/>
                    <a:p>
                      <a:pPr lvl="0" indent="0" marL="0">
                        <a:buNone/>
                      </a:pPr>
                      <a:r>
                        <a:rPr/>
                        <a:t>Chinstrap</a:t>
                      </a:r>
                    </a:p>
                  </a:txBody>
                  <a:tcPr/>
                </a:tc>
                <a:tc>
                  <a:txBody>
                    <a:bodyPr/>
                    <a:lstStyle/>
                    <a:p>
                      <a:pPr lvl="0" indent="0" marL="0">
                        <a:buNone/>
                      </a:pPr>
                      <a:r>
                        <a:rPr/>
                        <a:t>Gentoo</a:t>
                      </a:r>
                    </a:p>
                  </a:txBody>
                  <a:tcPr/>
                </a:tc>
              </a:tr>
              <a:tr h="0">
                <a:tc>
                  <a:txBody>
                    <a:bodyPr/>
                    <a:lstStyle/>
                    <a:p>
                      <a:pPr lvl="0" indent="0" marL="0">
                        <a:buNone/>
                      </a:pPr>
                      <a:r>
                        <a:rPr/>
                        <a:t>Biscoe</a:t>
                      </a:r>
                    </a:p>
                  </a:txBody>
                </a:tc>
                <a:tc>
                  <a:txBody>
                    <a:bodyPr/>
                    <a:lstStyle/>
                    <a:p>
                      <a:pPr lvl="0" indent="0" marL="0">
                        <a:buNone/>
                      </a:pPr>
                      <a:r>
                        <a:rPr/>
                        <a:t>39.0</a:t>
                      </a:r>
                    </a:p>
                  </a:txBody>
                </a:tc>
                <a:tc>
                  <a:txBody>
                    <a:bodyPr/>
                    <a:lstStyle/>
                    <a:p>
                      <a:pPr lvl="0" indent="0" marL="0">
                        <a:buNone/>
                      </a:pPr>
                      <a:r>
                        <a:rPr/>
                        <a:t>0</a:t>
                      </a:r>
                    </a:p>
                  </a:txBody>
                </a:tc>
                <a:tc>
                  <a:txBody>
                    <a:bodyPr/>
                    <a:lstStyle/>
                    <a:p>
                      <a:pPr lvl="0" indent="0" marL="0">
                        <a:buNone/>
                      </a:pPr>
                      <a:r>
                        <a:rPr/>
                        <a:t>45.6</a:t>
                      </a:r>
                    </a:p>
                  </a:txBody>
                </a:tc>
              </a:tr>
              <a:tr h="0">
                <a:tc>
                  <a:txBody>
                    <a:bodyPr/>
                    <a:lstStyle/>
                    <a:p>
                      <a:pPr lvl="0" indent="0" marL="0">
                        <a:buNone/>
                      </a:pPr>
                      <a:r>
                        <a:rPr/>
                        <a:t>Dream</a:t>
                      </a:r>
                    </a:p>
                  </a:txBody>
                </a:tc>
                <a:tc>
                  <a:txBody>
                    <a:bodyPr/>
                    <a:lstStyle/>
                    <a:p>
                      <a:pPr lvl="0" indent="0" marL="0">
                        <a:buNone/>
                      </a:pPr>
                      <a:r>
                        <a:rPr/>
                        <a:t>44.2</a:t>
                      </a:r>
                    </a:p>
                  </a:txBody>
                </a:tc>
                <a:tc>
                  <a:txBody>
                    <a:bodyPr/>
                    <a:lstStyle/>
                    <a:p>
                      <a:pPr lvl="0" indent="0" marL="0">
                        <a:buNone/>
                      </a:pPr>
                      <a:r>
                        <a:rPr/>
                        <a:t>48.8</a:t>
                      </a:r>
                    </a:p>
                  </a:txBody>
                </a:tc>
                <a:tc>
                  <a:txBody>
                    <a:bodyPr/>
                    <a:lstStyle/>
                    <a:p>
                      <a:pPr lvl="0" indent="0" marL="0">
                        <a:buNone/>
                      </a:pPr>
                      <a:r>
                        <a:rPr/>
                        <a:t>0</a:t>
                      </a:r>
                    </a:p>
                  </a:txBody>
                </a:tc>
              </a:tr>
              <a:tr h="0">
                <a:tc>
                  <a:txBody>
                    <a:bodyPr/>
                    <a:lstStyle/>
                    <a:p>
                      <a:pPr lvl="0" indent="0" marL="0">
                        <a:buNone/>
                      </a:pPr>
                      <a:r>
                        <a:rPr/>
                        <a:t>Torgersen</a:t>
                      </a:r>
                    </a:p>
                  </a:txBody>
                </a:tc>
                <a:tc>
                  <a:txBody>
                    <a:bodyPr/>
                    <a:lstStyle/>
                    <a:p>
                      <a:pPr lvl="0" indent="0" marL="0">
                        <a:buNone/>
                      </a:pPr>
                      <a:r>
                        <a:rPr/>
                        <a:t>39.0</a:t>
                      </a:r>
                    </a:p>
                  </a:txBody>
                </a:tc>
                <a:tc>
                  <a:txBody>
                    <a:bodyPr/>
                    <a:lstStyle/>
                    <a:p>
                      <a:pPr lvl="0" indent="0" marL="0">
                        <a:buNone/>
                      </a:pPr>
                      <a:r>
                        <a:rPr/>
                        <a:t>0</a:t>
                      </a:r>
                    </a:p>
                  </a:txBody>
                </a:tc>
                <a:tc>
                  <a:txBody>
                    <a:bodyPr/>
                    <a:lstStyle/>
                    <a:p>
                      <a:pPr lvl="0" indent="0" marL="0">
                        <a:buNone/>
                      </a:pPr>
                      <a:r>
                        <a:rPr/>
                        <a:t>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인사이트:</a:t>
            </a:r>
            <a:r>
              <a:rPr/>
              <a:t> 유전적 요인. 환경 영향 적음.</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11: 종별 체중 바이올린 플롯</a:t>
            </a:r>
          </a:p>
        </p:txBody>
      </p:sp>
      <p:pic>
        <p:nvPicPr>
          <p:cNvPr descr="body_mass_violin.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종별 체중 바이올린 플롯</a:t>
            </a:r>
          </a:p>
        </p:txBody>
      </p:sp>
      <p:sp>
        <p:nvSpPr>
          <p:cNvPr id="3" name="Content Placeholder 2"/>
          <p:cNvSpPr>
            <a:spLocks noGrp="1"/>
          </p:cNvSpPr>
          <p:nvPr>
            <p:ph idx="1"/>
          </p:nvPr>
        </p:nvSpPr>
        <p:spPr/>
        <p:txBody>
          <a:bodyPr/>
          <a:lstStyle/>
          <a:p>
            <a:pPr lvl="0" indent="0" marL="0">
              <a:buNone/>
            </a:pPr>
            <a:r>
              <a:rPr b="1"/>
              <a:t>인사이트:</a:t>
            </a:r>
            <a:r>
              <a:rPr/>
              <a:t> 분포 밀도. Gentoo 넓음. 변동성.</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12: 페어 플롯</a:t>
            </a:r>
          </a:p>
        </p:txBody>
      </p:sp>
      <p:pic>
        <p:nvPicPr>
          <p:cNvPr descr="pair_plot.png" id="0" name="Picture 1"/>
          <p:cNvPicPr>
            <a:picLocks noGrp="1" noChangeAspect="1"/>
          </p:cNvPicPr>
          <p:nvPr/>
        </p:nvPicPr>
        <p:blipFill>
          <a:blip r:embed="rId3"/>
          <a:stretch>
            <a:fillRect/>
          </a:stretch>
        </p:blipFill>
        <p:spPr bwMode="auto">
          <a:xfrm>
            <a:off x="2971800" y="1193800"/>
            <a:ext cx="3200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페어 플롯</a:t>
            </a:r>
          </a:p>
        </p:txBody>
      </p:sp>
      <p:sp>
        <p:nvSpPr>
          <p:cNvPr id="3" name="Content Placeholder 2"/>
          <p:cNvSpPr>
            <a:spLocks noGrp="1"/>
          </p:cNvSpPr>
          <p:nvPr>
            <p:ph idx="1"/>
          </p:nvPr>
        </p:nvSpPr>
        <p:spPr/>
        <p:txBody>
          <a:bodyPr/>
          <a:lstStyle/>
          <a:p>
            <a:pPr lvl="0" indent="0" marL="0">
              <a:buNone/>
            </a:pPr>
            <a:r>
              <a:rPr b="1"/>
              <a:t>인사이트:</a:t>
            </a:r>
            <a:r>
              <a:rPr/>
              <a:t> 모든 변수 관계. 클러스터링. 다변량.</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13: 상관관계 히트맵</a:t>
            </a:r>
          </a:p>
        </p:txBody>
      </p:sp>
      <p:pic>
        <p:nvPicPr>
          <p:cNvPr descr="correlation_heatmap.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상관관계 히트맵</a:t>
            </a:r>
          </a:p>
        </p:txBody>
      </p:sp>
      <p:sp>
        <p:nvSpPr>
          <p:cNvPr id="3" name="Content Placeholder 2"/>
          <p:cNvSpPr>
            <a:spLocks noGrp="1"/>
          </p:cNvSpPr>
          <p:nvPr>
            <p:ph idx="1"/>
          </p:nvPr>
        </p:nvSpPr>
        <p:spPr/>
        <p:txBody>
          <a:bodyPr/>
          <a:lstStyle/>
          <a:p>
            <a:pPr lvl="0" indent="0" marL="0">
              <a:buNone/>
            </a:pPr>
            <a:r>
              <a:rPr b="1"/>
              <a:t>인사이트:</a:t>
            </a:r>
            <a:r>
              <a:rPr/>
              <a:t> 날개-체중 강 상관. 모델 변수 선택.</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14: 종별 성별 카운트 플롯</a:t>
            </a:r>
          </a:p>
        </p:txBody>
      </p:sp>
      <p:pic>
        <p:nvPicPr>
          <p:cNvPr descr="sex_count.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종별 성별 카운트 플롯</a:t>
            </a:r>
          </a:p>
        </p:txBody>
      </p:sp>
      <p:sp>
        <p:nvSpPr>
          <p:cNvPr id="3" name="Content Placeholder 2"/>
          <p:cNvSpPr>
            <a:spLocks noGrp="1"/>
          </p:cNvSpPr>
          <p:nvPr>
            <p:ph idx="1"/>
          </p:nvPr>
        </p:nvSpPr>
        <p:spPr/>
        <p:txBody>
          <a:bodyPr/>
          <a:lstStyle/>
          <a:p>
            <a:pPr lvl="0" indent="0" marL="0">
              <a:buNone/>
            </a:pPr>
            <a:r>
              <a:rPr b="1"/>
              <a:t>인사이트:</a:t>
            </a:r>
            <a:r>
              <a:rPr/>
              <a:t> 균형적. 성비 왜곡 시 스트레스.</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시각화 15: 종별 평균 부리 길이 라인 플롯</a:t>
            </a:r>
          </a:p>
        </p:txBody>
      </p:sp>
      <p:pic>
        <p:nvPicPr>
          <p:cNvPr descr="mean_bill_line.png" id="0" name="Picture 1"/>
          <p:cNvPicPr>
            <a:picLocks noGrp="1" noChangeAspect="1"/>
          </p:cNvPicPr>
          <p:nvPr/>
        </p:nvPicPr>
        <p:blipFill>
          <a:blip r:embed="rId3"/>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종별 평균 부리 길이 라인 플롯</a:t>
            </a:r>
          </a:p>
        </p:txBody>
      </p:sp>
      <p:sp>
        <p:nvSpPr>
          <p:cNvPr id="3" name="Content Placeholder 2"/>
          <p:cNvSpPr>
            <a:spLocks noGrp="1"/>
          </p:cNvSpPr>
          <p:nvPr>
            <p:ph idx="1"/>
          </p:nvPr>
        </p:nvSpPr>
        <p:spPr/>
        <p:txBody>
          <a:bodyPr/>
          <a:lstStyle/>
          <a:p>
            <a:pPr lvl="0" indent="0" marL="0">
              <a:buNone/>
            </a:pPr>
            <a:r>
              <a:rPr b="1"/>
              <a:t>인사이트:</a:t>
            </a:r>
            <a:r>
              <a:rPr/>
              <a:t> 평균 차이. 형태적 차이.</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결론</a:t>
            </a:r>
          </a:p>
        </p:txBody>
      </p:sp>
      <p:sp>
        <p:nvSpPr>
          <p:cNvPr id="3" name="Content Placeholder 2"/>
          <p:cNvSpPr>
            <a:spLocks noGrp="1"/>
          </p:cNvSpPr>
          <p:nvPr>
            <p:ph idx="1"/>
          </p:nvPr>
        </p:nvSpPr>
        <p:spPr/>
        <p:txBody>
          <a:bodyPr/>
          <a:lstStyle/>
          <a:p>
            <a:pPr lvl="0"/>
            <a:r>
              <a:rPr/>
              <a:t>펭귄 종별 차이 명확.</a:t>
            </a:r>
          </a:p>
          <a:p>
            <a:pPr lvl="0"/>
            <a:r>
              <a:rPr/>
              <a:t>시각화로 패턴 이해.</a:t>
            </a:r>
          </a:p>
          <a:p>
            <a:pPr lvl="0"/>
            <a:r>
              <a:rPr/>
              <a:t>생태적 의미: 적응, 경쟁, 보존.</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감사합니다</a:t>
            </a:r>
          </a:p>
        </p:txBody>
      </p:sp>
      <p:sp>
        <p:nvSpPr>
          <p:cNvPr id="3" name="Content Placeholder 2"/>
          <p:cNvSpPr>
            <a:spLocks noGrp="1"/>
          </p:cNvSpPr>
          <p:nvPr>
            <p:ph idx="1"/>
          </p:nvPr>
        </p:nvSpPr>
        <p:spPr/>
        <p:txBody>
          <a:bodyPr/>
          <a:lstStyle/>
          <a:p>
            <a:pPr lvl="0" indent="0" marL="0">
              <a:buNone/>
            </a:pPr>
            <a:r>
              <a:rPr/>
              <a:t>질문 있으신가요?</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2025-12-23T13:24:16Z</dcterms:created>
  <dcterms:modified xsi:type="dcterms:W3CDTF">2025-12-23T13:24:16Z</dcterms:modified>
</cp:coreProperties>
</file>

<file path=docProps/custom.xml><?xml version="1.0" encoding="utf-8"?>
<Properties xmlns="http://schemas.openxmlformats.org/officeDocument/2006/custom-properties" xmlns:vt="http://schemas.openxmlformats.org/officeDocument/2006/docPropsVTypes"/>
</file>